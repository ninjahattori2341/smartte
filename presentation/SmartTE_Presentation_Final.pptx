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6616" y="210312"/>
            <a:ext cx="11430000" cy="256032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121416"/>
                </a:solidFill>
                <a:latin typeface="Arial"/>
              </a:rPr>
              <a:t>SmartTE  |  BACSE203 Computer Networks, Fall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585216"/>
            <a:ext cx="11064240" cy="10972"/>
          </a:xfrm>
          <a:prstGeom prst="rect">
            <a:avLst/>
          </a:prstGeom>
          <a:solidFill>
            <a:srgbClr val="DCD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6616" y="731520"/>
            <a:ext cx="11155680" cy="438912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2000" b="1">
                <a:solidFill>
                  <a:srgbClr val="121416"/>
                </a:solidFill>
                <a:latin typeface="Arial"/>
              </a:rPr>
              <a:t>Congestion results: throughput, RTT and packet loss (E2)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097280"/>
            <a:ext cx="1115568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A6066"/>
                </a:solidFill>
                <a:latin typeface="Arial"/>
              </a:rPr>
              <a:t>Mean [descriptive 95% CI]; five trials per condition. Ping loss is receiver-side ICMP loss.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1481328"/>
            <a:ext cx="1298448" cy="384048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536192"/>
            <a:ext cx="1261872" cy="310896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UDP 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5064" y="1481328"/>
            <a:ext cx="1755648" cy="384048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" y="1536192"/>
            <a:ext cx="1719072" cy="310896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Policy /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481328"/>
            <a:ext cx="2761488" cy="384048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36192"/>
            <a:ext cx="2724912" cy="310896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TCP throughput (Mbps)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81328"/>
            <a:ext cx="2761488" cy="384048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536192"/>
            <a:ext cx="2724912" cy="310896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Mean ping RTT (ms)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481328"/>
            <a:ext cx="2487168" cy="384048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1536192"/>
            <a:ext cx="2450592" cy="310896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Ping loss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" y="1865376"/>
            <a:ext cx="12984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1929384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5 Mbps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55064" y="1865376"/>
            <a:ext cx="17556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28216" y="1929384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Static (A)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0712" y="1865376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929384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5.95 [5.83, 6.06]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865376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929384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159.86 [145.37, 174.35]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33688" y="1865376"/>
            <a:ext cx="24871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1929384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3.40 [0.54, 6.26]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" y="2249424"/>
            <a:ext cx="12984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313432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655064" y="2249424"/>
            <a:ext cx="17556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28216" y="2313432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Static (B)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0712" y="2249424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2313432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9.46 [9.40, 9.53]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249424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313432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195.68 [169.36, 222.00]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33688" y="2249424"/>
            <a:ext cx="248716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19" y="2313432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1.60 [0.49, 2.71]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" y="2633472"/>
            <a:ext cx="12984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2697479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655064" y="2633472"/>
            <a:ext cx="17556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8216" y="2697479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Policy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2633472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2697479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6.26 [5.96, 6.56]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633472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2697479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51.80 [49.79, 53.81]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33688" y="2633472"/>
            <a:ext cx="24871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19" y="2697479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10.60 [3.99, 17.21]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" y="3017520"/>
            <a:ext cx="12984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3081527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1655064" y="3017520"/>
            <a:ext cx="17556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28216" y="3081527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Policy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0712" y="3017520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38144" y="3081527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7.44 [7.30, 7.58]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3017520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2" y="3081527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140.72 [136.63, 144.81]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3688" y="3017520"/>
            <a:ext cx="248716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19" y="3081527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4.40 [3.29, 5.51]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" y="3401568"/>
            <a:ext cx="12984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3465575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9 Mbps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55064" y="3401568"/>
            <a:ext cx="17556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28216" y="3465575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Static (A)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10712" y="3401568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38144" y="3465575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3.31 [3.16, 3.46]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401568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3465575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152.75 [142.46, 163.03]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33688" y="3401568"/>
            <a:ext cx="24871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19" y="3465575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5.20 [1.54, 8.86]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" y="3785615"/>
            <a:ext cx="12984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" y="3849624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655064" y="3785615"/>
            <a:ext cx="17556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28216" y="3849624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Static (B)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10712" y="3785615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38144" y="3849624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9.48 [9.45, 9.52]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3785615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99632" y="3849624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203.64 [185.71, 221.56]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33688" y="3785615"/>
            <a:ext cx="248716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61119" y="3849624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1.20 [0.00, 2.82]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" y="4169663"/>
            <a:ext cx="12984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4233672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1655064" y="4169663"/>
            <a:ext cx="175564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28216" y="4233672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Policy 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10712" y="4169663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38144" y="4233672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6.22 [5.76, 6.68]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4169663"/>
            <a:ext cx="276148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99632" y="4233672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68.31 [60.15, 76.47]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33688" y="4169663"/>
            <a:ext cx="24871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61119" y="4233672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12.20 [7.69, 16.71]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6616" y="4553712"/>
            <a:ext cx="12984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8" y="4617720"/>
            <a:ext cx="11521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121416"/>
                </a:solidFill>
                <a:latin typeface="Arial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655064" y="4553712"/>
            <a:ext cx="175564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28216" y="4617720"/>
            <a:ext cx="160934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Policy 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10712" y="4553712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38144" y="4617720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9.45 [9.43, 9.47]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72200" y="4553712"/>
            <a:ext cx="276148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99632" y="4617720"/>
            <a:ext cx="270662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206.71 [187.90, 225.52]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33688" y="4553712"/>
            <a:ext cx="2487168" cy="384048"/>
          </a:xfrm>
          <a:prstGeom prst="rect">
            <a:avLst/>
          </a:prstGeom>
          <a:solidFill>
            <a:srgbClr val="F3F4F5"/>
          </a:solidFill>
          <a:ln>
            <a:solidFill>
              <a:srgbClr val="CDD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61119" y="4617720"/>
            <a:ext cx="2432304" cy="292607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121416"/>
                </a:solidFill>
                <a:latin typeface="Arial"/>
              </a:rPr>
              <a:t>1.40 [0.72, 2.08]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6616" y="5138928"/>
            <a:ext cx="1124712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121416"/>
                </a:solidFill>
                <a:latin typeface="Arial"/>
              </a:rPr>
              <a:t>At 9 Mbps, Policy C preserved TCP throughput but had higher RTT; Policy B had lower RTT but higher ping loss.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6616" y="5431536"/>
            <a:ext cx="11247120" cy="347472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A6066"/>
                </a:solidFill>
                <a:latin typeface="Arial"/>
              </a:rPr>
              <a:t>Intervals are descriptive t-based 95% CIs (n = 5); ping-loss lower bounds are clipped at the physical limit of 0%.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6616" y="5779008"/>
            <a:ext cx="11247120" cy="256032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l"/>
            <a:r>
              <a:rPr sz="800" b="0">
                <a:solidFill>
                  <a:srgbClr val="5A6066"/>
                </a:solidFill>
                <a:latin typeface="Arial"/>
              </a:rPr>
              <a:t>Source: processed campaign m5_campaign_20261011T115819Z, E2-congestion metrics_summary.csv.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201400" y="6007608"/>
            <a:ext cx="219456" cy="201168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12141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6616" y="210312"/>
            <a:ext cx="11430000" cy="25603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100" b="0">
                <a:solidFill>
                  <a:srgbClr val="121416"/>
                </a:solidFill>
                <a:latin typeface="Arial"/>
              </a:rPr>
              <a:t>SmartTE  |  BACSE203 Computer Networks, Fall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585216"/>
            <a:ext cx="11064240" cy="10972"/>
          </a:xfrm>
          <a:prstGeom prst="rect">
            <a:avLst/>
          </a:prstGeom>
          <a:solidFill>
            <a:srgbClr val="DCD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6616" y="731520"/>
            <a:ext cx="11155680" cy="43891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2000" b="1">
                <a:solidFill>
                  <a:srgbClr val="121416"/>
                </a:solidFill>
                <a:latin typeface="Arial"/>
              </a:rPr>
              <a:t>Literature review and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097280"/>
            <a:ext cx="11155680" cy="310896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100" b="0">
                <a:solidFill>
                  <a:srgbClr val="5A6066"/>
                </a:solidFill>
                <a:latin typeface="Arial"/>
              </a:rPr>
              <a:t>Prior work motivates the problem; SmartTE tests a narrower, implementation-specific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" y="1572768"/>
            <a:ext cx="54864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746504"/>
            <a:ext cx="5120640" cy="41148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500" b="1">
                <a:solidFill>
                  <a:srgbClr val="121416"/>
                </a:solidFill>
                <a:latin typeface="Arial"/>
              </a:rPr>
              <a:t>What prior work 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221992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Centralized traffic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514600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B4 and SWAN coordinate paths with demand, rates and priorities at WAN scale [8, 9].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264408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Data-center multipath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557016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Hedera, MicroTE and CONGA use global scheduling, traffic patterns or distributed congestion signals [7, 11, 19].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4306824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Stability and safe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4599432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ECMP disruption, consistent updates and hybrid-routing instability are distinct concerns [2, 13, 14].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72768"/>
            <a:ext cx="54864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46504"/>
            <a:ext cx="5120640" cy="41148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500" b="1">
                <a:solidFill>
                  <a:srgbClr val="121416"/>
                </a:solidFill>
                <a:latin typeface="Arial"/>
              </a:rPr>
              <a:t>Research gap addressed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21992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Not a novelty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Centralized traffic engineering and route-stability mechanisms are established; this project does not claim otherwise.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64408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Bounded 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57016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Under one two-path topology and periodic max-link-utilization score, compare lower-score switching (B) with a 15 pp margin plus 5 s dwell (C).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06824"/>
            <a:ext cx="512064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200" b="1">
                <a:solidFill>
                  <a:srgbClr val="121416"/>
                </a:solidFill>
                <a:latin typeface="Arial"/>
              </a:rPr>
              <a:t>What we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99432"/>
            <a:ext cx="5120640" cy="62179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373C40"/>
                </a:solidFill>
                <a:latin typeface="Arial"/>
              </a:rPr>
              <a:t>Successful route changes alongside TCP throughput, ping RTT/loss and controller observations across E1–E4.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5797296"/>
            <a:ext cx="11247120" cy="265176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1">
                <a:solidFill>
                  <a:srgbClr val="121416"/>
                </a:solidFill>
                <a:latin typeface="Arial"/>
              </a:rPr>
              <a:t>Contribution: a controlled emulation of this feedback loop, not a direct benchmark against production systems.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6089904"/>
            <a:ext cx="11247120" cy="310896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900" b="0">
                <a:solidFill>
                  <a:srgbClr val="5A6066"/>
                </a:solidFill>
                <a:latin typeface="Arial"/>
              </a:rPr>
              <a:t>Evidence boundary: 110 trials, n = 5 per cell; descriptive intervals. No universal superiority or statistical significance is claimed.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228600" cy="201168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r"/>
            <a:r>
              <a:rPr sz="900" b="0">
                <a:solidFill>
                  <a:srgbClr val="12141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6616" y="210312"/>
            <a:ext cx="11430000" cy="25603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100" b="0">
                <a:solidFill>
                  <a:srgbClr val="121416"/>
                </a:solidFill>
                <a:latin typeface="Arial"/>
              </a:rPr>
              <a:t>SmartTE  |  BACSE203 Computer Networks, Fall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585216"/>
            <a:ext cx="11064240" cy="10972"/>
          </a:xfrm>
          <a:prstGeom prst="rect">
            <a:avLst/>
          </a:prstGeom>
          <a:solidFill>
            <a:srgbClr val="DCD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6616" y="731520"/>
            <a:ext cx="11155680" cy="438912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2000" b="1">
                <a:solidFill>
                  <a:srgbClr val="121416"/>
                </a:solidFill>
                <a:latin typeface="Arial"/>
              </a:rPr>
              <a:t>Comparison with representative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097280"/>
            <a:ext cx="11155680" cy="27432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1000" b="0">
                <a:solidFill>
                  <a:srgbClr val="5A6066"/>
                </a:solidFill>
                <a:latin typeface="Arial"/>
              </a:rPr>
              <a:t>Different scopes and evaluation methods: this is a conceptual comparison, not a numerical benchmark.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6616" y="1499616"/>
          <a:ext cx="11064240" cy="4489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4279392"/>
                <a:gridCol w="479145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anchor="ctr"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Approach / evidence</a:t>
                      </a:r>
                    </a:p>
                  </a:txBody>
                  <a:tcPr anchor="ctr"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Relation to SmartTE</a:t>
                      </a:r>
                    </a:p>
                  </a:txBody>
                  <a:tcPr anchor="ctr">
                    <a:solidFill>
                      <a:srgbClr val="121416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21416"/>
                          </a:solidFill>
                          <a:latin typeface="Arial"/>
                        </a:rPr>
                        <a:t>OSPF / ECMP [1, 2, 15, 16]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IGP link-weight optimization or per-flow hashing; protocol analysis and network-wide studies.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Different control granularity; not this per-poll centralized congestion feedback.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21416"/>
                          </a:solidFill>
                          <a:latin typeface="Arial"/>
                        </a:rPr>
                        <a:t>Hedera / MicroTE / CONGA [7, 11, 19]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Large-flow scheduling, traffic-matrix prediction or distributed congestion feedback; data-center studies.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More global flow context or in-network coordination than SmartTE's one-flow, two-path setup.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21416"/>
                          </a:solidFill>
                          <a:latin typeface="Arial"/>
                        </a:rPr>
                        <a:t>B4 / SWAN [8, 9]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WAN-scale path, rate and priority coordination; production, prototype and data-driven evaluation.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Different scale and objectives; SmartTE does not allocate rates or claim comparable performance.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21416"/>
                          </a:solidFill>
                          <a:latin typeface="Arial"/>
                        </a:rPr>
                        <a:t>Reitblatt / Tseng [13, 14]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Consistent network updates and routing-stability methods; formal mechanisms and simulation.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Update correctness and stability are related but distinct; SmartTE measures a margin/dwell policy in emulation.</a:t>
                      </a:r>
                    </a:p>
                  </a:txBody>
                  <a:tcPr anchor="ctr" marL="91440" marR="91440" marT="54864" marB="36576">
                    <a:solidFill>
                      <a:srgbClr val="F3F4F5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21416"/>
                          </a:solidFill>
                          <a:latin typeface="Arial"/>
                        </a:rPr>
                        <a:t>SmartTE (this study)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OS-Ken/OpenFlow 1.3; 1 s port-counter polling; Static vs B vs C in Mininet E1–E4.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21416"/>
                          </a:solidFill>
                          <a:latin typeface="Arial"/>
                        </a:rPr>
                        <a:t>Measures throughput, RTT, ping loss and successful route changes; bounded evidence (n=5 per cell).</a:t>
                      </a:r>
                    </a:p>
                  </a:txBody>
                  <a:tcPr anchor="ctr" marL="91440" marR="91440" marT="54864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6108192"/>
            <a:ext cx="10972800" cy="228600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l"/>
            <a:r>
              <a:rPr sz="800" b="0">
                <a:solidFill>
                  <a:srgbClr val="5A6066"/>
                </a:solidFill>
                <a:latin typeface="Arial"/>
              </a:rPr>
              <a:t>Sources: report references [1], [2], [7]–[9], [11], [13]–[16], [19].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228600" cy="201168"/>
          </a:xfrm>
          <a:prstGeom prst="rect">
            <a:avLst/>
          </a:prstGeom>
          <a:noFill/>
        </p:spPr>
        <p:txBody>
          <a:bodyPr wrap="square" lIns="64008" rIns="64008" tIns="32004" bIns="27432">
            <a:spAutoFit/>
          </a:bodyPr>
          <a:lstStyle/>
          <a:p>
            <a:pPr algn="r"/>
            <a:r>
              <a:rPr sz="900" b="0">
                <a:solidFill>
                  <a:srgbClr val="12141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SmartTE Presentation — Final</dc:title>
  <dc:subject>Targeted E2 results update; original source supplied as 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